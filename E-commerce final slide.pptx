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8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4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B5E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A2B5E"/>
                </a:solidFill>
                <a:latin typeface="Arial"/>
              </a:rPr>
              <a:t>Monthly Revenue Trend ($M)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 ($M)</c:v>
                </c:pt>
              </c:strCache>
            </c:strRef>
          </c:tx>
          <c:spPr>
            <a:solidFill>
              <a:srgbClr val="2D4A9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A2B5E"/>
                    </a:solidFill>
                    <a:latin typeface="Arial"/>
                  </a:defRPr>
                </a:pPr>
                <a:endParaRPr lang="en-NG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9.0399999999999991</c:v>
                </c:pt>
                <c:pt idx="1">
                  <c:v>8.07</c:v>
                </c:pt>
                <c:pt idx="2">
                  <c:v>8.94</c:v>
                </c:pt>
                <c:pt idx="3">
                  <c:v>8.5</c:v>
                </c:pt>
                <c:pt idx="4">
                  <c:v>9.08</c:v>
                </c:pt>
                <c:pt idx="5">
                  <c:v>8.56</c:v>
                </c:pt>
                <c:pt idx="6">
                  <c:v>9.0500000000000007</c:v>
                </c:pt>
                <c:pt idx="7">
                  <c:v>8.93</c:v>
                </c:pt>
                <c:pt idx="8">
                  <c:v>8.7200000000000006</c:v>
                </c:pt>
                <c:pt idx="9">
                  <c:v>8.9</c:v>
                </c:pt>
                <c:pt idx="10">
                  <c:v>8.68</c:v>
                </c:pt>
                <c:pt idx="11">
                  <c:v>8.92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9B7-4F28-8150-E403AF3081E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8A"/>
                </a:solidFill>
                <a:latin typeface="Arial"/>
              </a:defRPr>
            </a:pPr>
            <a:endParaRPr lang="en-NG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8A"/>
                </a:solidFill>
                <a:latin typeface="Arial"/>
              </a:defRPr>
            </a:pPr>
            <a:endParaRPr lang="en-NG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Sales ($M)</c:v>
                </c:pt>
              </c:strCache>
            </c:strRef>
          </c:tx>
          <c:spPr>
            <a:ln w="31750" cap="flat">
              <a:solidFill>
                <a:srgbClr val="2D4A9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D4A9E"/>
              </a:solidFill>
              <a:ln w="9525" cap="flat">
                <a:solidFill>
                  <a:srgbClr val="2D4A9E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A2B5E"/>
                    </a:solidFill>
                    <a:latin typeface="Arial"/>
                  </a:defRPr>
                </a:pPr>
                <a:endParaRPr lang="en-NG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9.0399999999999991</c:v>
                </c:pt>
                <c:pt idx="1">
                  <c:v>8.07</c:v>
                </c:pt>
                <c:pt idx="2">
                  <c:v>8.94</c:v>
                </c:pt>
                <c:pt idx="3">
                  <c:v>8.5</c:v>
                </c:pt>
                <c:pt idx="4">
                  <c:v>9.08</c:v>
                </c:pt>
                <c:pt idx="5">
                  <c:v>8.56</c:v>
                </c:pt>
                <c:pt idx="6">
                  <c:v>9.0500000000000007</c:v>
                </c:pt>
                <c:pt idx="7">
                  <c:v>8.93</c:v>
                </c:pt>
                <c:pt idx="8">
                  <c:v>8.7200000000000006</c:v>
                </c:pt>
                <c:pt idx="9">
                  <c:v>8.9</c:v>
                </c:pt>
                <c:pt idx="10">
                  <c:v>8.68</c:v>
                </c:pt>
                <c:pt idx="11">
                  <c:v>8.92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82CA-4507-AB5F-C5E7387230C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8A"/>
                </a:solidFill>
                <a:latin typeface="Arial"/>
              </a:defRPr>
            </a:pPr>
            <a:endParaRPr lang="en-NG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7.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8A"/>
                </a:solidFill>
                <a:latin typeface="Arial"/>
              </a:defRPr>
            </a:pPr>
            <a:endParaRPr lang="en-NG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B5E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A2B5E"/>
                </a:solidFill>
                <a:latin typeface="Arial"/>
              </a:rPr>
              <a:t>Top Customer Sales (K)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 Sales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D4A9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6B4-4C83-9DC1-3337C73158D5}"/>
              </c:ext>
            </c:extLst>
          </c:dPt>
          <c:dPt>
            <c:idx val="1"/>
            <c:bubble3D val="0"/>
            <c:spPr>
              <a:solidFill>
                <a:srgbClr val="4A90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6B4-4C83-9DC1-3337C73158D5}"/>
              </c:ext>
            </c:extLst>
          </c:dPt>
          <c:dPt>
            <c:idx val="2"/>
            <c:bubble3D val="0"/>
            <c:spPr>
              <a:solidFill>
                <a:srgbClr val="7EB5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6B4-4C83-9DC1-3337C73158D5}"/>
              </c:ext>
            </c:extLst>
          </c:dPt>
          <c:dPt>
            <c:idx val="3"/>
            <c:bubble3D val="0"/>
            <c:spPr>
              <a:solidFill>
                <a:srgbClr val="A8CE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6B4-4C83-9DC1-3337C73158D5}"/>
              </c:ext>
            </c:extLst>
          </c:dPt>
          <c:dPt>
            <c:idx val="4"/>
            <c:bubble3D val="0"/>
            <c:spPr>
              <a:solidFill>
                <a:srgbClr val="D0E6F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6B4-4C83-9DC1-3337C73158D5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NG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6B4-4C83-9DC1-3337C73158D5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NG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6B4-4C83-9DC1-3337C73158D5}"/>
                </c:ext>
              </c:extLst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NG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6B4-4C83-9DC1-3337C73158D5}"/>
                </c:ext>
              </c:extLst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NG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6B4-4C83-9DC1-3337C73158D5}"/>
                </c:ext>
              </c:extLst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NG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F6B4-4C83-9DC1-3337C73158D5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NG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Pooja</c:v>
                </c:pt>
                <c:pt idx="1">
                  <c:v>Jyoti</c:v>
                </c:pt>
                <c:pt idx="2">
                  <c:v>Neha</c:v>
                </c:pt>
                <c:pt idx="3">
                  <c:v>Poonam</c:v>
                </c:pt>
                <c:pt idx="4">
                  <c:v>Sunita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121</c:v>
                </c:pt>
                <c:pt idx="1">
                  <c:v>76</c:v>
                </c:pt>
                <c:pt idx="2">
                  <c:v>52</c:v>
                </c:pt>
                <c:pt idx="3">
                  <c:v>52</c:v>
                </c:pt>
                <c:pt idx="4">
                  <c:v>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6B4-4C83-9DC1-3337C73158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6A8A"/>
              </a:solidFill>
            </a:defRPr>
          </a:pPr>
          <a:endParaRPr lang="en-NG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B5E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A2B5E"/>
                </a:solidFill>
                <a:latin typeface="Arial"/>
              </a:rPr>
              <a:t>Top 5 Countries by Sales ($M)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Index</c:v>
                </c:pt>
              </c:strCache>
            </c:strRef>
          </c:tx>
          <c:spPr>
            <a:solidFill>
              <a:srgbClr val="2D4A9E"/>
            </a:solidFill>
            <a:effectLst/>
          </c:spPr>
          <c:invertIfNegative val="0"/>
          <c:dLbls>
            <c:numFmt formatCode="#,##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NG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Bangladesh</c:v>
                </c:pt>
                <c:pt idx="1">
                  <c:v>India</c:v>
                </c:pt>
                <c:pt idx="2">
                  <c:v>Lithuania</c:v>
                </c:pt>
                <c:pt idx="3">
                  <c:v>Poland</c:v>
                </c:pt>
                <c:pt idx="4">
                  <c:v>Germany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13.34</c:v>
                </c:pt>
                <c:pt idx="1">
                  <c:v>13.16</c:v>
                </c:pt>
                <c:pt idx="2">
                  <c:v>11.75</c:v>
                </c:pt>
                <c:pt idx="3">
                  <c:v>10.98</c:v>
                </c:pt>
                <c:pt idx="4">
                  <c:v>10.96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90E-4275-9D98-1E2400E5DF1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8A"/>
                </a:solidFill>
                <a:latin typeface="Arial"/>
              </a:defRPr>
            </a:pPr>
            <a:endParaRPr lang="en-NG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8A"/>
                </a:solidFill>
                <a:latin typeface="Arial"/>
              </a:defRPr>
            </a:pPr>
            <a:endParaRPr lang="en-NG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2D4A9E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D4A9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A50-47D6-81F3-B30EAC26F99A}"/>
              </c:ext>
            </c:extLst>
          </c:dPt>
          <c:dPt>
            <c:idx val="1"/>
            <c:invertIfNegative val="0"/>
            <c:bubble3D val="0"/>
            <c:spPr>
              <a:solidFill>
                <a:srgbClr val="3A6DB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A50-47D6-81F3-B30EAC26F99A}"/>
              </c:ext>
            </c:extLst>
          </c:dPt>
          <c:dPt>
            <c:idx val="2"/>
            <c:invertIfNegative val="0"/>
            <c:bubble3D val="0"/>
            <c:spPr>
              <a:solidFill>
                <a:srgbClr val="4A7E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A50-47D6-81F3-B30EAC26F99A}"/>
              </c:ext>
            </c:extLst>
          </c:dPt>
          <c:dPt>
            <c:idx val="3"/>
            <c:invertIfNegative val="0"/>
            <c:bubble3D val="0"/>
            <c:spPr>
              <a:solidFill>
                <a:srgbClr val="5A8FC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A50-47D6-81F3-B30EAC26F99A}"/>
              </c:ext>
            </c:extLst>
          </c:dPt>
          <c:dPt>
            <c:idx val="4"/>
            <c:invertIfNegative val="0"/>
            <c:bubble3D val="0"/>
            <c:spPr>
              <a:solidFill>
                <a:srgbClr val="6AA0D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A50-47D6-81F3-B30EAC26F99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NG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Coffee K-Cups</c:v>
                </c:pt>
                <c:pt idx="1">
                  <c:v>Food - Chips</c:v>
                </c:pt>
                <c:pt idx="2">
                  <c:v>Kitchen Supplies</c:v>
                </c:pt>
                <c:pt idx="3">
                  <c:v>Food - Healthy</c:v>
                </c:pt>
                <c:pt idx="4">
                  <c:v>Beverage - Energy/Protein</c:v>
                </c:pt>
              </c:strCache>
            </c:strRef>
          </c:cat>
          <c:val>
            <c:numRef>
              <c:f>Sheet1!$B$2:$B$6</c:f>
              <c:numCache>
                <c:formatCode>"$"#,##0.00"M"</c:formatCode>
                <c:ptCount val="5"/>
                <c:pt idx="0">
                  <c:v>7.5</c:v>
                </c:pt>
                <c:pt idx="1">
                  <c:v>7.76</c:v>
                </c:pt>
                <c:pt idx="2">
                  <c:v>8.43</c:v>
                </c:pt>
                <c:pt idx="3">
                  <c:v>10.38</c:v>
                </c:pt>
                <c:pt idx="4">
                  <c:v>10.74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A50-47D6-81F3-B30EAC26F99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8A"/>
                </a:solidFill>
                <a:latin typeface="Arial"/>
              </a:defRPr>
            </a:pPr>
            <a:endParaRPr lang="en-NG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8A"/>
                </a:solidFill>
                <a:latin typeface="Arial"/>
              </a:defRPr>
            </a:pPr>
            <a:endParaRPr lang="en-NG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9FB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B5E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A2B5E"/>
                </a:solidFill>
                <a:latin typeface="Arial"/>
              </a:rPr>
              <a:t>Payment Method Split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 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2B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BBB-45FC-9BDF-F2FF28864301}"/>
              </c:ext>
            </c:extLst>
          </c:dPt>
          <c:dPt>
            <c:idx val="1"/>
            <c:bubble3D val="0"/>
            <c:spPr>
              <a:solidFill>
                <a:srgbClr val="3FBC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BBB-45FC-9BDF-F2FF28864301}"/>
              </c:ext>
            </c:extLst>
          </c:dPt>
          <c:dPt>
            <c:idx val="2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BBB-45FC-9BDF-F2FF28864301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NG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BBB-45FC-9BDF-F2FF28864301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NG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BBB-45FC-9BDF-F2FF28864301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NG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BBB-45FC-9BDF-F2FF2886430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NG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Card</c:v>
                </c:pt>
                <c:pt idx="1">
                  <c:v>Mobile</c:v>
                </c:pt>
                <c:pt idx="2">
                  <c:v>Cash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90</c:v>
                </c:pt>
                <c:pt idx="1">
                  <c:v>8</c:v>
                </c:pt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BBB-45FC-9BDF-F2FF288643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A6A8A"/>
              </a:solidFill>
            </a:defRPr>
          </a:pPr>
          <a:endParaRPr lang="en-NG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B5E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A2B5E"/>
                </a:solidFill>
                <a:latin typeface="Arial"/>
              </a:rPr>
              <a:t>Weekly Revenue ($M)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Weekly Revenue ($M)</c:v>
                </c:pt>
              </c:strCache>
            </c:strRef>
          </c:tx>
          <c:spPr>
            <a:solidFill>
              <a:srgbClr val="2D4A9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B5E"/>
                    </a:solidFill>
                    <a:latin typeface="Arial"/>
                  </a:defRPr>
                </a:pPr>
                <a:endParaRPr lang="en-NG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4th Week</c:v>
                </c:pt>
                <c:pt idx="1">
                  <c:v>3rd Week</c:v>
                </c:pt>
                <c:pt idx="2">
                  <c:v>1st Week</c:v>
                </c:pt>
                <c:pt idx="3">
                  <c:v>2nd Week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32.96</c:v>
                </c:pt>
                <c:pt idx="1">
                  <c:v>24.23</c:v>
                </c:pt>
                <c:pt idx="2">
                  <c:v>24.13</c:v>
                </c:pt>
                <c:pt idx="3">
                  <c:v>24.09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C4-4D39-9CFE-130980DAE61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8A"/>
                </a:solidFill>
                <a:latin typeface="Arial"/>
              </a:defRPr>
            </a:pPr>
            <a:endParaRPr lang="en-NG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8A"/>
                </a:solidFill>
                <a:latin typeface="Arial"/>
              </a:defRPr>
            </a:pPr>
            <a:endParaRPr lang="en-NG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B5E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A2B5E"/>
                </a:solidFill>
                <a:latin typeface="Arial"/>
              </a:rPr>
              <a:t>Bangladesh Divisional Performance ($M)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Performance Index</c:v>
                </c:pt>
              </c:strCache>
            </c:strRef>
          </c:tx>
          <c:spPr>
            <a:solidFill>
              <a:srgbClr val="2D4A9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NG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BARISAL</c:v>
                </c:pt>
                <c:pt idx="1">
                  <c:v>CHITTAGONG</c:v>
                </c:pt>
                <c:pt idx="2">
                  <c:v>DHAKA</c:v>
                </c:pt>
                <c:pt idx="3">
                  <c:v>KHULNA</c:v>
                </c:pt>
                <c:pt idx="4">
                  <c:v>RAJSHAHI</c:v>
                </c:pt>
                <c:pt idx="5">
                  <c:v>RANGPUR</c:v>
                </c:pt>
                <c:pt idx="6">
                  <c:v>SYLHET</c:v>
                </c:pt>
              </c:strCache>
            </c:strRef>
          </c:cat>
          <c:val>
            <c:numRef>
              <c:f>Sheet1!$B$2:$B$8</c:f>
              <c:numCache>
                <c:formatCode>"$"#,##0"M"</c:formatCode>
                <c:ptCount val="7"/>
                <c:pt idx="0">
                  <c:v>41</c:v>
                </c:pt>
                <c:pt idx="1">
                  <c:v>29</c:v>
                </c:pt>
                <c:pt idx="2">
                  <c:v>8</c:v>
                </c:pt>
                <c:pt idx="3">
                  <c:v>38</c:v>
                </c:pt>
                <c:pt idx="4">
                  <c:v>37</c:v>
                </c:pt>
                <c:pt idx="5">
                  <c:v>40</c:v>
                </c:pt>
                <c:pt idx="6">
                  <c:v>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B9-4ECD-BAB3-3411FC1C283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8A"/>
                </a:solidFill>
                <a:latin typeface="Arial"/>
              </a:defRPr>
            </a:pPr>
            <a:endParaRPr lang="en-NG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8A"/>
                </a:solidFill>
                <a:latin typeface="Arial"/>
              </a:defRPr>
            </a:pPr>
            <a:endParaRPr lang="en-NG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5106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FBCE8"/>
          </a:solidFill>
          <a:ln w="12700">
            <a:solidFill>
              <a:srgbClr val="3FBC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3FBCE8"/>
          </a:solidFill>
          <a:ln w="12700">
            <a:solidFill>
              <a:srgbClr val="3FBC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3152"/>
            <a:ext cx="73152" cy="4997196"/>
          </a:xfrm>
          <a:prstGeom prst="rect">
            <a:avLst/>
          </a:prstGeom>
          <a:solidFill>
            <a:srgbClr val="2D4A9E"/>
          </a:solidFill>
          <a:ln w="12700">
            <a:solidFill>
              <a:srgbClr val="2D4A9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731520"/>
            <a:ext cx="1645920" cy="1645920"/>
          </a:xfrm>
          <a:prstGeom prst="ellipse">
            <a:avLst/>
          </a:prstGeom>
          <a:solidFill>
            <a:srgbClr val="3FBCE8">
              <a:alpha val="20000"/>
            </a:srgbClr>
          </a:solidFill>
          <a:ln w="12700">
            <a:solidFill>
              <a:srgbClr val="3FBCE8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0" y="1005840"/>
            <a:ext cx="1097280" cy="1097280"/>
          </a:xfrm>
          <a:prstGeom prst="ellipse">
            <a:avLst/>
          </a:prstGeom>
          <a:solidFill>
            <a:srgbClr val="3FBCE8">
              <a:alpha val="40000"/>
            </a:srgbClr>
          </a:solidFill>
          <a:ln w="12700">
            <a:solidFill>
              <a:srgbClr val="3FBCE8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Dashboard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3F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Sales Performance, Customer Insights &amp; Geographical Trends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5486400" cy="36576"/>
          </a:xfrm>
          <a:prstGeom prst="rect">
            <a:avLst/>
          </a:prstGeom>
          <a:solidFill>
            <a:srgbClr val="3FBCE8">
              <a:alpha val="50000"/>
            </a:srgbClr>
          </a:solidFill>
          <a:ln w="12700">
            <a:solidFill>
              <a:srgbClr val="3FBCE8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834640"/>
            <a:ext cx="822960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E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Segun, Modupe and  </a:t>
            </a:r>
            <a:r>
              <a:rPr lang="en-US" sz="1300" dirty="0" err="1">
                <a:solidFill>
                  <a:srgbClr val="EE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Juwon</a:t>
            </a:r>
            <a:r>
              <a:rPr lang="en-US" sz="1300" dirty="0">
                <a:solidFill>
                  <a:srgbClr val="EE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1300" dirty="0">
                <a:solidFill>
                  <a:srgbClr val="EE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en-US" sz="1300" dirty="0">
                <a:solidFill>
                  <a:srgbClr val="EE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dirty="0">
                <a:solidFill>
                  <a:srgbClr val="EE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5-Month Training — Final Project Defence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429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2026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73736" y="4151376"/>
            <a:ext cx="2068019" cy="502920"/>
          </a:xfrm>
          <a:prstGeom prst="rect">
            <a:avLst/>
          </a:prstGeom>
          <a:solidFill>
            <a:srgbClr val="2D4A9E"/>
          </a:solidFill>
          <a:ln w="12700">
            <a:solidFill>
              <a:srgbClr val="3FBC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465" y="4114800"/>
            <a:ext cx="196448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$105M Revenue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362691" y="4151376"/>
            <a:ext cx="2126718" cy="502920"/>
          </a:xfrm>
          <a:prstGeom prst="rect">
            <a:avLst/>
          </a:prstGeom>
          <a:solidFill>
            <a:srgbClr val="2D4A9E"/>
          </a:solidFill>
          <a:ln w="12700">
            <a:solidFill>
              <a:srgbClr val="3FBCE8"/>
            </a:solidFill>
            <a:prstDash val="solid"/>
          </a:ln>
        </p:spPr>
        <p:txBody>
          <a:bodyPr/>
          <a:lstStyle/>
          <a:p>
            <a:endParaRPr lang="en-NG" dirty="0"/>
          </a:p>
        </p:txBody>
      </p:sp>
      <p:sp>
        <p:nvSpPr>
          <p:cNvPr id="15" name="Text 13"/>
          <p:cNvSpPr/>
          <p:nvPr/>
        </p:nvSpPr>
        <p:spPr>
          <a:xfrm>
            <a:off x="2686862" y="4151376"/>
            <a:ext cx="159607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6M Units Sold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41321" y="4181094"/>
            <a:ext cx="2286000" cy="502920"/>
          </a:xfrm>
          <a:prstGeom prst="rect">
            <a:avLst/>
          </a:prstGeom>
          <a:solidFill>
            <a:srgbClr val="2D4A9E"/>
          </a:solidFill>
          <a:ln w="12700">
            <a:solidFill>
              <a:srgbClr val="3FBC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2007" y="4206240"/>
            <a:ext cx="187304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9.2K Customers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189842" y="4181094"/>
            <a:ext cx="1909325" cy="502920"/>
          </a:xfrm>
          <a:prstGeom prst="rect">
            <a:avLst/>
          </a:prstGeom>
          <a:solidFill>
            <a:srgbClr val="2D4A9E"/>
          </a:solidFill>
          <a:ln w="12700">
            <a:solidFill>
              <a:srgbClr val="3FBC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33218" y="4203807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$17.6 Avg Price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 We Set Out to Answer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45720"/>
          </a:xfrm>
          <a:prstGeom prst="rect">
            <a:avLst/>
          </a:prstGeom>
          <a:solidFill>
            <a:srgbClr val="3FBCE8"/>
          </a:solidFill>
          <a:ln w="12700">
            <a:solidFill>
              <a:srgbClr val="3FBC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5156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14300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1161288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revenue have we generated, and how does it compare to last year?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24028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233172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51560" y="2350008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products and units are driving the most sales volume?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342900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" y="352044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51560" y="3538728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countries and regions are our biggest markets?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05156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92040" y="114300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532120" y="1161288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our most valuable customers, and how many do we serve?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224028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92040" y="233172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532120" y="2350008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our monthly sales trend — are we growing or declining?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342900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92040" y="352044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💳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532120" y="3538728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customers prefer to pay, and which payment method dominates?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Workflow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98802" y="935785"/>
            <a:ext cx="1554480" cy="374904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F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600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1005840" cy="36576"/>
          </a:xfrm>
          <a:prstGeom prst="rect">
            <a:avLst/>
          </a:prstGeom>
          <a:solidFill>
            <a:srgbClr val="3FBCE8"/>
          </a:solidFill>
          <a:ln w="12700">
            <a:solidFill>
              <a:srgbClr val="3FBC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240280"/>
            <a:ext cx="1371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D0D8F0"/>
                </a:solidFill>
                <a:latin typeface="Calibri" pitchFamily="34" charset="0"/>
                <a:cs typeface="Calibri" pitchFamily="34" charset="-120"/>
              </a:rPr>
              <a:t>Raw e-commerce transactional dataset</a:t>
            </a:r>
          </a:p>
        </p:txBody>
      </p:sp>
      <p:sp>
        <p:nvSpPr>
          <p:cNvPr id="9" name="Text 7"/>
          <p:cNvSpPr/>
          <p:nvPr/>
        </p:nvSpPr>
        <p:spPr>
          <a:xfrm>
            <a:off x="1828800" y="233172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FBCE8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993392" y="914400"/>
            <a:ext cx="1554480" cy="3749040"/>
          </a:xfrm>
          <a:prstGeom prst="rect">
            <a:avLst/>
          </a:prstGeom>
          <a:solidFill>
            <a:srgbClr val="2D4A9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93392" y="10058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F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993392" y="1600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7712" y="2148840"/>
            <a:ext cx="1005840" cy="36576"/>
          </a:xfrm>
          <a:prstGeom prst="rect">
            <a:avLst/>
          </a:prstGeom>
          <a:solidFill>
            <a:srgbClr val="3FBCE8"/>
          </a:solidFill>
          <a:ln w="12700">
            <a:solidFill>
              <a:srgbClr val="3FBC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84832" y="2240280"/>
            <a:ext cx="1371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/>
              <a:t> </a:t>
            </a:r>
            <a:r>
              <a:rPr lang="en-US" sz="1000" dirty="0">
                <a:solidFill>
                  <a:srgbClr val="D0D8F0"/>
                </a:solidFill>
                <a:latin typeface="Calibri" pitchFamily="34" charset="0"/>
                <a:cs typeface="Calibri" pitchFamily="34" charset="-120"/>
              </a:rPr>
              <a:t>(Power Query): Removed duplicates, handled missing values, standardized formats</a:t>
            </a:r>
          </a:p>
        </p:txBody>
      </p:sp>
      <p:sp>
        <p:nvSpPr>
          <p:cNvPr id="15" name="Text 13"/>
          <p:cNvSpPr/>
          <p:nvPr/>
        </p:nvSpPr>
        <p:spPr>
          <a:xfrm>
            <a:off x="3547872" y="233172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FBCE8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712464" y="914400"/>
            <a:ext cx="1554480" cy="374904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12464" y="10058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F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712464" y="1600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Modelling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986784" y="2148840"/>
            <a:ext cx="1005840" cy="36576"/>
          </a:xfrm>
          <a:prstGeom prst="rect">
            <a:avLst/>
          </a:prstGeom>
          <a:solidFill>
            <a:srgbClr val="3FBCE8"/>
          </a:solidFill>
          <a:ln w="12700">
            <a:solidFill>
              <a:srgbClr val="3FBC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03904" y="2240280"/>
            <a:ext cx="1371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relationships between sales, products, customers &amp; regions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266944" y="233172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FBCE8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431536" y="914400"/>
            <a:ext cx="1554480" cy="3749040"/>
          </a:xfrm>
          <a:prstGeom prst="rect">
            <a:avLst/>
          </a:prstGeom>
          <a:solidFill>
            <a:srgbClr val="2D4A9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31536" y="10058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F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431536" y="1600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705856" y="2148840"/>
            <a:ext cx="1005840" cy="36576"/>
          </a:xfrm>
          <a:prstGeom prst="rect">
            <a:avLst/>
          </a:prstGeom>
          <a:solidFill>
            <a:srgbClr val="3FBCE8"/>
          </a:solidFill>
          <a:ln w="12700">
            <a:solidFill>
              <a:srgbClr val="3FBC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22976" y="2240280"/>
            <a:ext cx="1371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KPIs — revenue, quantity, avg unit price, customer count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86016" y="233172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FBCE8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150608" y="914400"/>
            <a:ext cx="1554480" cy="374904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50608" y="10058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F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7150608" y="1600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424928" y="2148840"/>
            <a:ext cx="1005840" cy="36576"/>
          </a:xfrm>
          <a:prstGeom prst="rect">
            <a:avLst/>
          </a:prstGeom>
          <a:solidFill>
            <a:srgbClr val="3FBCE8"/>
          </a:solidFill>
          <a:ln w="12700">
            <a:solidFill>
              <a:srgbClr val="3FBC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42048" y="2240280"/>
            <a:ext cx="1371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interactive Excel dashboard with filters &amp; drilldowns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Performance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58952"/>
            <a:ext cx="8503920" cy="45720"/>
          </a:xfrm>
          <a:prstGeom prst="rect">
            <a:avLst/>
          </a:prstGeom>
          <a:solidFill>
            <a:srgbClr val="3FBCE8"/>
          </a:solidFill>
          <a:ln w="12700">
            <a:solidFill>
              <a:srgbClr val="3FBC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2926080" cy="256032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515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F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41732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$105M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914400" y="2377440"/>
            <a:ext cx="1645920" cy="3200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3774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16.12% vs Last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3611880"/>
            <a:ext cx="29260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3703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Key Insight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402336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grew 16% year-over-year. May was the strongest month at $9.08M, with every month staying above $8M — a sign of stable, consistent growth.</a:t>
            </a:r>
            <a:endParaRPr lang="en-US" sz="105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3383280" y="914400"/>
          <a:ext cx="54864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BQ_23"/>
          <p:cNvSpPr/>
          <p:nvPr/>
        </p:nvSpPr>
        <p:spPr>
          <a:xfrm>
            <a:off x="274320" y="548640"/>
            <a:ext cx="8229600" cy="274320"/>
          </a:xfrm>
          <a:prstGeom prst="roundRect">
            <a:avLst>
              <a:gd name="adj" fmla="val 16667"/>
            </a:avLst>
          </a:prstGeom>
          <a:noFill/>
          <a:ln w="9525">
            <a:noFill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2B5E"/>
                </a:solidFill>
                <a:latin typeface="Calibri" pitchFamily="34" charset="0"/>
              </a:rPr>
              <a:t>How much revenue have we generated, and how does it compare to last year?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30234"/>
            <a:ext cx="9144000" cy="6858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  <p:txBody>
          <a:bodyPr/>
          <a:lstStyle/>
          <a:p>
            <a:endParaRPr lang="en-NG" dirty="0"/>
          </a:p>
        </p:txBody>
      </p:sp>
      <p:sp>
        <p:nvSpPr>
          <p:cNvPr id="3" name="Text 1"/>
          <p:cNvSpPr/>
          <p:nvPr/>
        </p:nvSpPr>
        <p:spPr>
          <a:xfrm>
            <a:off x="224175" y="91440"/>
            <a:ext cx="864550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Sold &amp; Average Unit Price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023360" cy="4023360"/>
          </a:xfrm>
          <a:prstGeom prst="rect">
            <a:avLst/>
          </a:prstGeom>
          <a:solidFill>
            <a:srgbClr val="EEF2FA"/>
          </a:solidFill>
          <a:ln w="12700">
            <a:solidFill>
              <a:srgbClr val="D5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Quantity Sold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2D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6.0M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88720" y="2514600"/>
            <a:ext cx="2194560" cy="3200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5146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10.12% vs Last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3657600" cy="36576"/>
          </a:xfrm>
          <a:prstGeom prst="rect">
            <a:avLst/>
          </a:prstGeom>
          <a:solidFill>
            <a:srgbClr val="D5DCF0"/>
          </a:solidFill>
          <a:ln w="12700">
            <a:solidFill>
              <a:srgbClr val="D5DC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017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Units by Qty Sold: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3375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54480" y="33375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52044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54480" y="35204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7033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554480" y="3703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840K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88620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oz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554480" y="38862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432K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0690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554480" y="40690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367K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80560" y="868680"/>
            <a:ext cx="4389120" cy="4023360"/>
          </a:xfrm>
          <a:prstGeom prst="rect">
            <a:avLst/>
          </a:prstGeom>
          <a:solidFill>
            <a:srgbClr val="EEF2FA"/>
          </a:solidFill>
          <a:ln w="12700">
            <a:solidFill>
              <a:srgbClr val="D5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63440" y="1005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💲 Avg Unit Price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63440" y="137160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2D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$17.6</a:t>
            </a:r>
            <a:endParaRPr lang="en-US" sz="5200" dirty="0"/>
          </a:p>
        </p:txBody>
      </p:sp>
      <p:sp>
        <p:nvSpPr>
          <p:cNvPr id="25" name="Shape 23"/>
          <p:cNvSpPr/>
          <p:nvPr/>
        </p:nvSpPr>
        <p:spPr>
          <a:xfrm>
            <a:off x="5760720" y="2514600"/>
            <a:ext cx="2194560" cy="3200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0720" y="25146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0.01% vs Last Year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2926080"/>
            <a:ext cx="3840480" cy="36576"/>
          </a:xfrm>
          <a:prstGeom prst="rect">
            <a:avLst/>
          </a:prstGeom>
          <a:solidFill>
            <a:srgbClr val="D5DCF0"/>
          </a:solidFill>
          <a:ln w="12700">
            <a:solidFill>
              <a:srgbClr val="D5DC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30175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What This Tells Us: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63440" y="333756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 price is virtually flat (-0.01%), meaning pricing has stayed consistent. The volume growth is what's driving revenue — not price hikes. This is a healthy signal: we're growing by selling more, not charging more.</a:t>
            </a:r>
            <a:endParaRPr lang="en-US" sz="1100" dirty="0"/>
          </a:p>
        </p:txBody>
      </p:sp>
      <p:sp>
        <p:nvSpPr>
          <p:cNvPr id="39" name="BQ_39"/>
          <p:cNvSpPr/>
          <p:nvPr/>
        </p:nvSpPr>
        <p:spPr>
          <a:xfrm>
            <a:off x="224175" y="365760"/>
            <a:ext cx="8279745" cy="457200"/>
          </a:xfrm>
          <a:prstGeom prst="roundRect">
            <a:avLst>
              <a:gd name="adj" fmla="val 16667"/>
            </a:avLst>
          </a:prstGeom>
          <a:noFill/>
          <a:ln w="9525">
            <a:noFill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itchFamily="34" charset="0"/>
              </a:rPr>
              <a:t>Which products and units are driving the most sales volume?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 Trend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58952"/>
            <a:ext cx="8503920" cy="45720"/>
          </a:xfrm>
          <a:prstGeom prst="rect">
            <a:avLst/>
          </a:prstGeom>
          <a:solidFill>
            <a:srgbClr val="3FBCE8"/>
          </a:solidFill>
          <a:ln w="12700">
            <a:solidFill>
              <a:srgbClr val="3FBCE8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274320" y="914400"/>
          <a:ext cx="54864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943600" y="960120"/>
            <a:ext cx="29260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43600" y="960120"/>
            <a:ext cx="54864" cy="1234440"/>
          </a:xfrm>
          <a:prstGeom prst="rect">
            <a:avLst/>
          </a:prstGeom>
          <a:solidFill>
            <a:srgbClr val="3FBCE8"/>
          </a:solidFill>
          <a:ln w="12700">
            <a:solidFill>
              <a:srgbClr val="3FB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80760" y="10515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Peak Month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080760" y="1344168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hit $9.08M — the highest month of the year. A remarkable mid-year surge after the February dip.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943600" y="2331720"/>
            <a:ext cx="29260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43600" y="2331720"/>
            <a:ext cx="54864" cy="1234440"/>
          </a:xfrm>
          <a:prstGeom prst="rect">
            <a:avLst/>
          </a:prstGeom>
          <a:solidFill>
            <a:srgbClr val="3FBCE8"/>
          </a:solidFill>
          <a:ln w="12700">
            <a:solidFill>
              <a:srgbClr val="3FB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80760" y="24231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Low Points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080760" y="2715768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was the lowest month at $8.07M — but sales bounced back strongly in March and kept climbing to the May peak.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43600" y="3703320"/>
            <a:ext cx="29260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943600" y="3703320"/>
            <a:ext cx="54864" cy="1234440"/>
          </a:xfrm>
          <a:prstGeom prst="rect">
            <a:avLst/>
          </a:prstGeom>
          <a:solidFill>
            <a:srgbClr val="3FBCE8"/>
          </a:solidFill>
          <a:ln w="12700">
            <a:solidFill>
              <a:srgbClr val="3FBCE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80760" y="3794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Stable Range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080760" y="4087368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single month stayed between $8.07M–$9.08M. That's a tight, stable range — a sign of a well-run, consistent business.</a:t>
            </a:r>
            <a:endParaRPr lang="en-US" sz="1000" dirty="0"/>
          </a:p>
        </p:txBody>
      </p:sp>
      <p:sp>
        <p:nvSpPr>
          <p:cNvPr id="27" name="BQ_27"/>
          <p:cNvSpPr/>
          <p:nvPr/>
        </p:nvSpPr>
        <p:spPr>
          <a:xfrm>
            <a:off x="274320" y="548640"/>
            <a:ext cx="8229600" cy="274320"/>
          </a:xfrm>
          <a:prstGeom prst="roundRect">
            <a:avLst>
              <a:gd name="adj" fmla="val 16667"/>
            </a:avLst>
          </a:prstGeom>
          <a:noFill/>
          <a:ln w="9525">
            <a:noFill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2B5E"/>
                </a:solidFill>
                <a:latin typeface="Calibri" pitchFamily="34" charset="0"/>
              </a:rPr>
              <a:t>How do our monthly sales trend, are we growing or declining?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23886"/>
            <a:ext cx="9144000" cy="6858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-172556"/>
            <a:ext cx="8686800" cy="556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Insights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286000" cy="13716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60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F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Customers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2801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9.2K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02920" y="2240280"/>
            <a:ext cx="1828800" cy="3200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240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0.09% vs PY</a:t>
            </a:r>
            <a:endParaRPr lang="en-US" sz="10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2697480" y="822960"/>
          <a:ext cx="32004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6035040" y="868680"/>
            <a:ext cx="2834640" cy="1463040"/>
          </a:xfrm>
          <a:prstGeom prst="rect">
            <a:avLst/>
          </a:prstGeom>
          <a:solidFill>
            <a:srgbClr val="EEF2FA"/>
          </a:solidFill>
          <a:ln w="12700">
            <a:solidFill>
              <a:srgbClr val="D5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172200" y="9601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Top Customer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172200" y="1280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D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Pooja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6172200" y="1737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121K in purchases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035040" y="2468880"/>
            <a:ext cx="2834640" cy="2423160"/>
          </a:xfrm>
          <a:prstGeom prst="rect">
            <a:avLst/>
          </a:prstGeom>
          <a:solidFill>
            <a:srgbClr val="EEF2FA"/>
          </a:solidFill>
          <a:ln w="12700">
            <a:solidFill>
              <a:srgbClr val="D5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172200" y="25786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Insights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172200" y="2926080"/>
            <a:ext cx="2606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Only 9.2K active customers — room to grow the customer base.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Pooja leads with 121K — 1.6× ahead of Jyoti (76K), the second-highest customer.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Heavy reliance on top 5 customers creates concentration risk.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Recommendation: Launch loyalty &amp; referral programmes to expand base.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74320" y="2697480"/>
            <a:ext cx="2286000" cy="2148840"/>
          </a:xfrm>
          <a:prstGeom prst="rect">
            <a:avLst/>
          </a:prstGeom>
          <a:solidFill>
            <a:srgbClr val="EEF2FA"/>
          </a:solidFill>
          <a:ln w="12700">
            <a:solidFill>
              <a:srgbClr val="D5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11480" y="28163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Note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11480" y="3127248"/>
            <a:ext cx="20116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growth is minimal (+0.09%). With top 5 spanning 121K–52K in purchases, acquiring and retaining new customers must be a 2026 priority.</a:t>
            </a:r>
            <a:endParaRPr lang="en-US" sz="1000" dirty="0"/>
          </a:p>
        </p:txBody>
      </p:sp>
      <p:sp>
        <p:nvSpPr>
          <p:cNvPr id="29" name="BQ_29"/>
          <p:cNvSpPr/>
          <p:nvPr/>
        </p:nvSpPr>
        <p:spPr>
          <a:xfrm>
            <a:off x="182880" y="147484"/>
            <a:ext cx="8229600" cy="478880"/>
          </a:xfrm>
          <a:prstGeom prst="roundRect">
            <a:avLst>
              <a:gd name="adj" fmla="val 16667"/>
            </a:avLst>
          </a:prstGeom>
          <a:noFill/>
          <a:ln w="9525">
            <a:noFill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itchFamily="34" charset="0"/>
              </a:rPr>
              <a:t>Who are our most valuable customers, and how many do we serve?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Geographical Distribution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58952"/>
            <a:ext cx="8503920" cy="45720"/>
          </a:xfrm>
          <a:prstGeom prst="rect">
            <a:avLst/>
          </a:prstGeom>
          <a:solidFill>
            <a:srgbClr val="3FBCE8"/>
          </a:solidFill>
          <a:ln w="12700">
            <a:solidFill>
              <a:srgbClr val="3FBCE8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274320" y="914400"/>
          <a:ext cx="53035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960120"/>
            <a:ext cx="3108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760720" y="960120"/>
            <a:ext cx="54864" cy="1280160"/>
          </a:xfrm>
          <a:prstGeom prst="rect">
            <a:avLst/>
          </a:prstGeom>
          <a:solidFill>
            <a:srgbClr val="3FBCE8"/>
          </a:solidFill>
          <a:ln w="12700">
            <a:solidFill>
              <a:srgbClr val="3FB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97880" y="105156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🇧🇩 Bangladesh #1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97880" y="137160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market at $13.34M. Strong demand — invest in local warehousing &amp; partnerships to reduce costs.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760720" y="2377440"/>
            <a:ext cx="3108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60720" y="2377440"/>
            <a:ext cx="54864" cy="1280160"/>
          </a:xfrm>
          <a:prstGeom prst="rect">
            <a:avLst/>
          </a:prstGeom>
          <a:solidFill>
            <a:srgbClr val="3FBCE8"/>
          </a:solidFill>
          <a:ln w="12700">
            <a:solidFill>
              <a:srgbClr val="3FB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97880" y="246888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India #2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897880" y="278892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second at $13.16M — only $180K behind Bangladesh. High growth potential with localised campaigns.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760720" y="3794760"/>
            <a:ext cx="3108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760720" y="3794760"/>
            <a:ext cx="54864" cy="1280160"/>
          </a:xfrm>
          <a:prstGeom prst="rect">
            <a:avLst/>
          </a:prstGeom>
          <a:solidFill>
            <a:srgbClr val="3FBCE8"/>
          </a:solidFill>
          <a:ln w="12700">
            <a:solidFill>
              <a:srgbClr val="3FBCE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97880" y="38862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European Markets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897880" y="420624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Lithuania ($11.75M), Poland ($10.98M) &amp; Germany ($10.96M) round out the top 5. Targeted digital ads could scale these markets.</a:t>
            </a:r>
            <a:endParaRPr lang="en-US" sz="1050" dirty="0"/>
          </a:p>
        </p:txBody>
      </p:sp>
      <p:sp>
        <p:nvSpPr>
          <p:cNvPr id="27" name="BQ_27"/>
          <p:cNvSpPr/>
          <p:nvPr/>
        </p:nvSpPr>
        <p:spPr>
          <a:xfrm>
            <a:off x="274320" y="548640"/>
            <a:ext cx="8229600" cy="274320"/>
          </a:xfrm>
          <a:prstGeom prst="roundRect">
            <a:avLst>
              <a:gd name="adj" fmla="val 16667"/>
            </a:avLst>
          </a:prstGeom>
          <a:noFill/>
          <a:ln w="9525">
            <a:noFill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2B5E"/>
                </a:solidFill>
                <a:latin typeface="Calibri" pitchFamily="34" charset="0"/>
              </a:rPr>
              <a:t>Which countries and regions are our biggest markets?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"/>
            <a:ext cx="9144000" cy="6858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  <p:txBody>
          <a:bodyPr/>
          <a:lstStyle/>
          <a:p>
            <a:endParaRPr lang="en-NG" dirty="0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Selling Products</a:t>
            </a:r>
            <a:b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822960"/>
          <a:ext cx="502920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486400" y="822960"/>
            <a:ext cx="3429000" cy="896112"/>
          </a:xfrm>
          <a:prstGeom prst="rect">
            <a:avLst/>
          </a:prstGeom>
          <a:solidFill>
            <a:srgbClr val="EEF2FA"/>
          </a:solidFill>
          <a:ln w="12700">
            <a:solidFill>
              <a:srgbClr val="D5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0" y="822960"/>
            <a:ext cx="54864" cy="89611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23560" y="88696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🥤 Beverage - Energy/Protein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23560" y="11887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at $10.74M — top revenue driver. Prioritise stock availability and explore bundle deals with food categories.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0" y="1828800"/>
            <a:ext cx="3429000" cy="896112"/>
          </a:xfrm>
          <a:prstGeom prst="rect">
            <a:avLst/>
          </a:prstGeom>
          <a:solidFill>
            <a:srgbClr val="EEF2FA"/>
          </a:solidFill>
          <a:ln w="12700">
            <a:solidFill>
              <a:srgbClr val="D5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0" y="1828800"/>
            <a:ext cx="54864" cy="89611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23560" y="189280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🥗 Food - Healthy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623560" y="21945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at $10.38M — only $360K behind #1. Health-conscious demand is strong — expand range and increase visibility.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86400" y="2834640"/>
            <a:ext cx="3429000" cy="896112"/>
          </a:xfrm>
          <a:prstGeom prst="rect">
            <a:avLst/>
          </a:prstGeom>
          <a:solidFill>
            <a:srgbClr val="EEF2FA"/>
          </a:solidFill>
          <a:ln w="12700">
            <a:solidFill>
              <a:srgbClr val="D5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486400" y="2834640"/>
            <a:ext cx="54864" cy="89611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23560" y="289864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🍳 Kitchen Supplies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623560" y="32004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at $8.43M — household essentials with consistent repeat purchases. Maintain stock depth year-round.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486400" y="3840480"/>
            <a:ext cx="3429000" cy="896112"/>
          </a:xfrm>
          <a:prstGeom prst="rect">
            <a:avLst/>
          </a:prstGeom>
          <a:solidFill>
            <a:srgbClr val="EEF2FA"/>
          </a:solidFill>
          <a:ln w="12700">
            <a:solidFill>
              <a:srgbClr val="D5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486400" y="3840480"/>
            <a:ext cx="54864" cy="89611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23560" y="390448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🍟 Food - Chips  &amp;  ☕ Coffee K-Cups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623560" y="42062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 Food-Chips at $7.76M — great for bundle upsells. #5 Coffee K-Cups at $7.50M — strong subscription model candidate for recurring revenue.</a:t>
            </a:r>
            <a:endParaRPr lang="en-US" sz="1000" dirty="0"/>
          </a:p>
        </p:txBody>
      </p:sp>
      <p:sp>
        <p:nvSpPr>
          <p:cNvPr id="30" name="BQ_30"/>
          <p:cNvSpPr/>
          <p:nvPr/>
        </p:nvSpPr>
        <p:spPr>
          <a:xfrm>
            <a:off x="274320" y="320040"/>
            <a:ext cx="8229600" cy="502920"/>
          </a:xfrm>
          <a:prstGeom prst="roundRect">
            <a:avLst>
              <a:gd name="adj" fmla="val 16667"/>
            </a:avLst>
          </a:prstGeom>
          <a:noFill/>
          <a:ln w="9525">
            <a:noFill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itchFamily="34" charset="0"/>
              </a:rPr>
              <a:t>Which product categories generate the most sales?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Types &amp; Weekly Trend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274320" y="758952"/>
            <a:ext cx="8503920" cy="45720"/>
          </a:xfrm>
          <a:prstGeom prst="rect">
            <a:avLst/>
          </a:prstGeom>
          <a:solidFill>
            <a:srgbClr val="3FBCE8"/>
          </a:solidFill>
          <a:ln w="12700">
            <a:solidFill>
              <a:srgbClr val="3FBCE8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274320" y="914400"/>
          <a:ext cx="347472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3840480" y="914400"/>
          <a:ext cx="50292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BQ_16"/>
          <p:cNvSpPr/>
          <p:nvPr/>
        </p:nvSpPr>
        <p:spPr>
          <a:xfrm>
            <a:off x="274320" y="548640"/>
            <a:ext cx="8229600" cy="274320"/>
          </a:xfrm>
          <a:prstGeom prst="roundRect">
            <a:avLst>
              <a:gd name="adj" fmla="val 16667"/>
            </a:avLst>
          </a:prstGeom>
          <a:noFill/>
          <a:ln w="9525">
            <a:noFill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2B5E"/>
                </a:solidFill>
                <a:latin typeface="Calibri" pitchFamily="34" charset="0"/>
              </a:rPr>
              <a:t>How do customers prefer to pay, and which payment method dominates?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Overview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supplying our products?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4206240" cy="566928"/>
          </a:xfrm>
          <a:prstGeom prst="rect">
            <a:avLst/>
          </a:prstGeom>
          <a:solidFill>
            <a:srgbClr val="EEF2FA"/>
          </a:solidFill>
          <a:ln w="12700">
            <a:solidFill>
              <a:srgbClr val="D5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G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54864" cy="566928"/>
          </a:xfrm>
          <a:prstGeom prst="rect">
            <a:avLst/>
          </a:prstGeom>
          <a:solidFill>
            <a:srgbClr val="2D4A9E"/>
          </a:solidFill>
          <a:ln w="12700">
            <a:solidFill>
              <a:srgbClr val="2D4A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43560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NINGBO SEDUNO 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039112"/>
            <a:ext cx="4206240" cy="566928"/>
          </a:xfrm>
          <a:prstGeom prst="rect">
            <a:avLst/>
          </a:prstGeom>
          <a:solidFill>
            <a:srgbClr val="EEF2FA"/>
          </a:solidFill>
          <a:ln w="12700">
            <a:solidFill>
              <a:srgbClr val="D5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039112"/>
            <a:ext cx="54864" cy="566928"/>
          </a:xfrm>
          <a:prstGeom prst="rect">
            <a:avLst/>
          </a:prstGeom>
          <a:solidFill>
            <a:srgbClr val="2D4A9E"/>
          </a:solidFill>
          <a:ln w="12700">
            <a:solidFill>
              <a:srgbClr val="2D4A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21488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MAESA SAS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752344"/>
            <a:ext cx="4206240" cy="566928"/>
          </a:xfrm>
          <a:prstGeom prst="rect">
            <a:avLst/>
          </a:prstGeom>
          <a:solidFill>
            <a:srgbClr val="EEF2FA"/>
          </a:solidFill>
          <a:ln w="12700">
            <a:solidFill>
              <a:srgbClr val="D5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752344"/>
            <a:ext cx="54864" cy="566928"/>
          </a:xfrm>
          <a:prstGeom prst="rect">
            <a:avLst/>
          </a:prstGeom>
          <a:solidFill>
            <a:srgbClr val="2D4A9E"/>
          </a:solidFill>
          <a:ln w="12700">
            <a:solidFill>
              <a:srgbClr val="2D4A9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86207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Indo Count Industries Ltd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465576"/>
            <a:ext cx="4206240" cy="566928"/>
          </a:xfrm>
          <a:prstGeom prst="rect">
            <a:avLst/>
          </a:prstGeom>
          <a:solidFill>
            <a:srgbClr val="EEF2FA"/>
          </a:solidFill>
          <a:ln w="12700">
            <a:solidFill>
              <a:srgbClr val="D5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465576"/>
            <a:ext cx="54864" cy="566928"/>
          </a:xfrm>
          <a:prstGeom prst="rect">
            <a:avLst/>
          </a:prstGeom>
          <a:solidFill>
            <a:srgbClr val="2D4A9E"/>
          </a:solidFill>
          <a:ln w="12700">
            <a:solidFill>
              <a:srgbClr val="2D4A9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57530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HARDFORD AB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4178808"/>
            <a:ext cx="4206240" cy="566928"/>
          </a:xfrm>
          <a:prstGeom prst="rect">
            <a:avLst/>
          </a:prstGeom>
          <a:solidFill>
            <a:srgbClr val="EEF2FA"/>
          </a:solidFill>
          <a:ln w="12700">
            <a:solidFill>
              <a:srgbClr val="D5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4178808"/>
            <a:ext cx="54864" cy="566928"/>
          </a:xfrm>
          <a:prstGeom prst="rect">
            <a:avLst/>
          </a:prstGeom>
          <a:solidFill>
            <a:srgbClr val="2D4A9E"/>
          </a:solidFill>
          <a:ln w="12700">
            <a:solidFill>
              <a:srgbClr val="2D4A9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428853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Friedola 1888 GmbH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325880"/>
            <a:ext cx="4206240" cy="566928"/>
          </a:xfrm>
          <a:prstGeom prst="rect">
            <a:avLst/>
          </a:prstGeom>
          <a:solidFill>
            <a:srgbClr val="EEF2FA"/>
          </a:solidFill>
          <a:ln w="12700">
            <a:solidFill>
              <a:srgbClr val="D5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325880"/>
            <a:ext cx="54864" cy="566928"/>
          </a:xfrm>
          <a:prstGeom prst="rect">
            <a:avLst/>
          </a:prstGeom>
          <a:solidFill>
            <a:srgbClr val="2D4A9E"/>
          </a:solidFill>
          <a:ln w="12700">
            <a:solidFill>
              <a:srgbClr val="2D4A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143560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DENIMACH LTD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039112"/>
            <a:ext cx="4206240" cy="566928"/>
          </a:xfrm>
          <a:prstGeom prst="rect">
            <a:avLst/>
          </a:prstGeom>
          <a:solidFill>
            <a:srgbClr val="EEF2FA"/>
          </a:solidFill>
          <a:ln w="12700">
            <a:solidFill>
              <a:srgbClr val="D5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039112"/>
            <a:ext cx="54864" cy="566928"/>
          </a:xfrm>
          <a:prstGeom prst="rect">
            <a:avLst/>
          </a:prstGeom>
          <a:solidFill>
            <a:srgbClr val="2D4A9E"/>
          </a:solidFill>
          <a:ln w="12700">
            <a:solidFill>
              <a:srgbClr val="2D4A9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9472" y="21488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CHROMADURLIN S.A.S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2752344"/>
            <a:ext cx="4206240" cy="566928"/>
          </a:xfrm>
          <a:prstGeom prst="rect">
            <a:avLst/>
          </a:prstGeom>
          <a:solidFill>
            <a:srgbClr val="EEF2FA"/>
          </a:solidFill>
          <a:ln w="12700">
            <a:solidFill>
              <a:srgbClr val="D5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2752344"/>
            <a:ext cx="54864" cy="566928"/>
          </a:xfrm>
          <a:prstGeom prst="rect">
            <a:avLst/>
          </a:prstGeom>
          <a:solidFill>
            <a:srgbClr val="2D4A9E"/>
          </a:solidFill>
          <a:ln w="12700">
            <a:solidFill>
              <a:srgbClr val="2D4A9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286207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CHERRY GROUP CO., LTD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465576"/>
            <a:ext cx="4206240" cy="566928"/>
          </a:xfrm>
          <a:prstGeom prst="rect">
            <a:avLst/>
          </a:prstGeom>
          <a:solidFill>
            <a:srgbClr val="EEF2FA"/>
          </a:solidFill>
          <a:ln w="12700">
            <a:solidFill>
              <a:srgbClr val="D5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465576"/>
            <a:ext cx="54864" cy="566928"/>
          </a:xfrm>
          <a:prstGeom prst="rect">
            <a:avLst/>
          </a:prstGeom>
          <a:solidFill>
            <a:srgbClr val="2D4A9E"/>
          </a:solidFill>
          <a:ln w="12700">
            <a:solidFill>
              <a:srgbClr val="2D4A9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357530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Bolsius Boxmeer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4178808"/>
            <a:ext cx="4206240" cy="566928"/>
          </a:xfrm>
          <a:prstGeom prst="rect">
            <a:avLst/>
          </a:prstGeom>
          <a:solidFill>
            <a:srgbClr val="EEF2FA"/>
          </a:solidFill>
          <a:ln w="12700">
            <a:solidFill>
              <a:srgbClr val="D5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4178808"/>
            <a:ext cx="54864" cy="566928"/>
          </a:xfrm>
          <a:prstGeom prst="rect">
            <a:avLst/>
          </a:prstGeom>
          <a:solidFill>
            <a:srgbClr val="2D4A9E"/>
          </a:solidFill>
          <a:ln w="12700">
            <a:solidFill>
              <a:srgbClr val="2D4A9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9472" y="428853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BIGSO AB</a:t>
            </a:r>
            <a:endParaRPr lang="en-US" sz="1100" dirty="0"/>
          </a:p>
        </p:txBody>
      </p:sp>
      <p:sp>
        <p:nvSpPr>
          <p:cNvPr id="44" name="BQ_44"/>
          <p:cNvSpPr/>
          <p:nvPr/>
        </p:nvSpPr>
        <p:spPr>
          <a:xfrm>
            <a:off x="274320" y="397764"/>
            <a:ext cx="8229600" cy="425196"/>
          </a:xfrm>
          <a:prstGeom prst="roundRect">
            <a:avLst>
              <a:gd name="adj" fmla="val 16667"/>
            </a:avLst>
          </a:prstGeom>
          <a:noFill/>
          <a:ln w="9525">
            <a:noFill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itchFamily="34" charset="0"/>
              </a:rPr>
              <a:t>Which suppliers power our product catalogue?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(Divisional) Performance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58952"/>
            <a:ext cx="8503920" cy="45720"/>
          </a:xfrm>
          <a:prstGeom prst="rect">
            <a:avLst/>
          </a:prstGeom>
          <a:solidFill>
            <a:srgbClr val="3FBCE8"/>
          </a:solidFill>
          <a:ln w="12700">
            <a:solidFill>
              <a:srgbClr val="3FBCE8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274320" y="914400"/>
          <a:ext cx="50292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486400" y="960120"/>
            <a:ext cx="33832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0" y="960120"/>
            <a:ext cx="54864" cy="1280160"/>
          </a:xfrm>
          <a:prstGeom prst="rect">
            <a:avLst/>
          </a:prstGeom>
          <a:solidFill>
            <a:srgbClr val="3FBCE8"/>
          </a:solidFill>
          <a:ln w="12700">
            <a:solidFill>
              <a:srgbClr val="3FB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23560" y="105156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Sylhet Leads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23560" y="137160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division at $43M. Strong regional commerce and demand — maintain investment and scale logistics here.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86400" y="2377440"/>
            <a:ext cx="33832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0" y="2377440"/>
            <a:ext cx="54864" cy="1280160"/>
          </a:xfrm>
          <a:prstGeom prst="rect">
            <a:avLst/>
          </a:prstGeom>
          <a:solidFill>
            <a:srgbClr val="3FBCE8"/>
          </a:solidFill>
          <a:ln w="12700">
            <a:solidFill>
              <a:srgbClr val="3FB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23560" y="246888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Barisal &amp; Rangpur Strong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623560" y="278892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Barisal ($41M) and Rangpur ($40M) are close behind Sylhet — solid performers that deserve continued investment.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486400" y="3794760"/>
            <a:ext cx="33832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486400" y="3794760"/>
            <a:ext cx="54864" cy="1280160"/>
          </a:xfrm>
          <a:prstGeom prst="rect">
            <a:avLst/>
          </a:prstGeom>
          <a:solidFill>
            <a:srgbClr val="3FBCE8"/>
          </a:solidFill>
          <a:ln w="12700">
            <a:solidFill>
              <a:srgbClr val="3FBCE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23560" y="388620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Dhaka Underperforms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623560" y="420624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being the capital, Dhaka records the lowest sales at just $8M. Urgent review of distribution channels, pricing and local partnerships needed.</a:t>
            </a:r>
            <a:endParaRPr lang="en-US" sz="1050" dirty="0"/>
          </a:p>
        </p:txBody>
      </p:sp>
      <p:sp>
        <p:nvSpPr>
          <p:cNvPr id="27" name="BQ_27"/>
          <p:cNvSpPr/>
          <p:nvPr/>
        </p:nvSpPr>
        <p:spPr>
          <a:xfrm>
            <a:off x="274320" y="548640"/>
            <a:ext cx="8229600" cy="274320"/>
          </a:xfrm>
          <a:prstGeom prst="roundRect">
            <a:avLst>
              <a:gd name="adj" fmla="val 16667"/>
            </a:avLst>
          </a:prstGeom>
          <a:noFill/>
          <a:ln w="9525">
            <a:noFill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2B5E"/>
                </a:solidFill>
                <a:latin typeface="Calibri" pitchFamily="34" charset="0"/>
              </a:rPr>
              <a:t>Which Bangladesh divisions are performing best  and which need attention?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FBCE8"/>
          </a:solidFill>
          <a:ln w="12700">
            <a:solidFill>
              <a:srgbClr val="3FBC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3FBCE8"/>
          </a:solidFill>
          <a:ln w="12700">
            <a:solidFill>
              <a:srgbClr val="3FBC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Recommendations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3FBCE8">
              <a:alpha val="50000"/>
            </a:srgbClr>
          </a:solidFill>
          <a:ln w="12700">
            <a:solidFill>
              <a:srgbClr val="3FBCE8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14400"/>
            <a:ext cx="4114800" cy="1234440"/>
          </a:xfrm>
          <a:prstGeom prst="rect">
            <a:avLst/>
          </a:prstGeom>
          <a:solidFill>
            <a:srgbClr val="1E3575"/>
          </a:solidFill>
          <a:ln w="12700">
            <a:solidFill>
              <a:srgbClr val="2A44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64008" cy="12344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98755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98755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Bangladesh Operations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325880"/>
            <a:ext cx="3337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#1 market. Invest in local logistics, warehousing &amp; partnerships to reduce delivery time and costs.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286000"/>
            <a:ext cx="4114800" cy="1234440"/>
          </a:xfrm>
          <a:prstGeom prst="rect">
            <a:avLst/>
          </a:prstGeom>
          <a:solidFill>
            <a:srgbClr val="1E3575"/>
          </a:solidFill>
          <a:ln w="12700">
            <a:solidFill>
              <a:srgbClr val="2A44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286000"/>
            <a:ext cx="64008" cy="1234440"/>
          </a:xfrm>
          <a:prstGeom prst="rect">
            <a:avLst/>
          </a:prstGeom>
          <a:solidFill>
            <a:srgbClr val="3FBCE8"/>
          </a:solidFill>
          <a:ln w="12700">
            <a:solidFill>
              <a:srgbClr val="3FBC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35915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F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14400" y="235915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the Customer Base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2697480"/>
            <a:ext cx="3337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9.2K customers is lean. Launch referral programmes, digital ads &amp; retention campaigns to expand reach.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657600"/>
            <a:ext cx="4114800" cy="1234440"/>
          </a:xfrm>
          <a:prstGeom prst="rect">
            <a:avLst/>
          </a:prstGeom>
          <a:solidFill>
            <a:srgbClr val="1E3575"/>
          </a:solidFill>
          <a:ln w="12700">
            <a:solidFill>
              <a:srgbClr val="2A44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657600"/>
            <a:ext cx="64008" cy="12344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73075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14400" y="373075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Capitalise on Top Products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4069080"/>
            <a:ext cx="3337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Beverage Energy/Protein (#1, $10.74M) &amp; Food-Healthy (#2, $10.38M) lead. Prioritise stock depth, bundle deals &amp; aggressive promotions.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914400"/>
            <a:ext cx="4114800" cy="1234440"/>
          </a:xfrm>
          <a:prstGeom prst="rect">
            <a:avLst/>
          </a:prstGeom>
          <a:solidFill>
            <a:srgbClr val="1E3575"/>
          </a:solidFill>
          <a:ln w="12700">
            <a:solidFill>
              <a:srgbClr val="2A44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914400"/>
            <a:ext cx="64008" cy="12344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98755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394960" y="98755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Diversify Payment Options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94960" y="1325880"/>
            <a:ext cx="3337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card usage is good — but 2% cash signals untapped mobile money opportunity in emerging markets.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2286000"/>
            <a:ext cx="4114800" cy="1234440"/>
          </a:xfrm>
          <a:prstGeom prst="rect">
            <a:avLst/>
          </a:prstGeom>
          <a:solidFill>
            <a:srgbClr val="1E3575"/>
          </a:solidFill>
          <a:ln w="12700">
            <a:solidFill>
              <a:srgbClr val="2A44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2286000"/>
            <a:ext cx="64008" cy="123444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235915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394960" y="235915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Underperforming Regions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94960" y="2697480"/>
            <a:ext cx="3337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Dhaka severely underperforms at just $8M despite being the capital. Urgent review of distribution channels &amp; local partnerships needed.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3657600"/>
            <a:ext cx="4114800" cy="1234440"/>
          </a:xfrm>
          <a:prstGeom prst="rect">
            <a:avLst/>
          </a:prstGeom>
          <a:solidFill>
            <a:srgbClr val="1E3575"/>
          </a:solidFill>
          <a:ln w="12700">
            <a:solidFill>
              <a:srgbClr val="2A44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3657600"/>
            <a:ext cx="64008" cy="12344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373075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394960" y="373075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Subscription Models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94960" y="4069080"/>
            <a:ext cx="3337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K-Cups &amp; repeat-purchase categories are ideal for subscription — predictable recurring revenue.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FBCE8"/>
          </a:solidFill>
          <a:ln w="12700">
            <a:solidFill>
              <a:srgbClr val="3FBC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3FBCE8"/>
          </a:solidFill>
          <a:ln w="12700">
            <a:solidFill>
              <a:srgbClr val="3FBC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457200"/>
            <a:ext cx="2286000" cy="2286000"/>
          </a:xfrm>
          <a:prstGeom prst="ellipse">
            <a:avLst/>
          </a:prstGeom>
          <a:solidFill>
            <a:srgbClr val="3FBCE8">
              <a:alpha val="15000"/>
            </a:srgbClr>
          </a:solidFill>
          <a:ln w="12700">
            <a:solidFill>
              <a:srgbClr val="3FBCE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57200" y="3200400"/>
            <a:ext cx="1828800" cy="1828800"/>
          </a:xfrm>
          <a:prstGeom prst="ellipse">
            <a:avLst/>
          </a:prstGeom>
          <a:solidFill>
            <a:srgbClr val="2D4A9E">
              <a:alpha val="30000"/>
            </a:srgbClr>
          </a:solidFill>
          <a:ln w="12700">
            <a:solidFill>
              <a:srgbClr val="2D4A9E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28800"/>
            <a:ext cx="7315200" cy="954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2194560" y="2869889"/>
            <a:ext cx="4572000" cy="45720"/>
          </a:xfrm>
          <a:prstGeom prst="rect">
            <a:avLst/>
          </a:prstGeom>
          <a:solidFill>
            <a:srgbClr val="3FBCE8"/>
          </a:solidFill>
          <a:ln w="12700">
            <a:solidFill>
              <a:srgbClr val="3FBC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148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0" y="39776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32461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754880" y="39776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66560" y="32461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766560" y="39776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4709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1182</Words>
  <Application>Microsoft Office PowerPoint</Application>
  <PresentationFormat>On-screen Show (16:9)</PresentationFormat>
  <Paragraphs>182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Dashboard Analysis</dc:title>
  <dc:subject>PptxGenJS Presentation</dc:subject>
  <dc:creator>PptxGenJS</dc:creator>
  <cp:lastModifiedBy>USER</cp:lastModifiedBy>
  <cp:revision>9</cp:revision>
  <dcterms:created xsi:type="dcterms:W3CDTF">2026-02-19T13:43:44Z</dcterms:created>
  <dcterms:modified xsi:type="dcterms:W3CDTF">2026-02-19T23:55:02Z</dcterms:modified>
</cp:coreProperties>
</file>